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9" r:id="rId4"/>
    <p:sldId id="257" r:id="rId5"/>
    <p:sldId id="260" r:id="rId6"/>
    <p:sldId id="262" r:id="rId7"/>
    <p:sldId id="265" r:id="rId8"/>
    <p:sldId id="266" r:id="rId9"/>
    <p:sldId id="268" r:id="rId10"/>
    <p:sldId id="269" r:id="rId11"/>
    <p:sldId id="272" r:id="rId12"/>
    <p:sldId id="271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98" d="100"/>
          <a:sy n="98" d="100"/>
        </p:scale>
        <p:origin x="99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C2B30BB-FCB0-4D9B-ABD1-C7A0FA4CCA22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F16FFA2-DB18-4A97-B001-81C98EA8344E}" type="slidenum">
              <a:rPr lang="es-PE" smtClean="0"/>
              <a:t>‹Nº›</a:t>
            </a:fld>
            <a:endParaRPr lang="es-PE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443960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30BB-FCB0-4D9B-ABD1-C7A0FA4CCA22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6FFA2-DB18-4A97-B001-81C98EA834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37377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2B30BB-FCB0-4D9B-ABD1-C7A0FA4CCA22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16FFA2-DB18-4A97-B001-81C98EA8344E}" type="slidenum">
              <a:rPr lang="es-PE" smtClean="0"/>
              <a:t>‹Nº›</a:t>
            </a:fld>
            <a:endParaRPr lang="es-PE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546291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30BB-FCB0-4D9B-ABD1-C7A0FA4CCA22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6FFA2-DB18-4A97-B001-81C98EA834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0624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30BB-FCB0-4D9B-ABD1-C7A0FA4CCA22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6FFA2-DB18-4A97-B001-81C98EA834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9975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30BB-FCB0-4D9B-ABD1-C7A0FA4CCA22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6FFA2-DB18-4A97-B001-81C98EA834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145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30BB-FCB0-4D9B-ABD1-C7A0FA4CCA22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6FFA2-DB18-4A97-B001-81C98EA834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23464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2B30BB-FCB0-4D9B-ABD1-C7A0FA4CCA22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16FFA2-DB18-4A97-B001-81C98EA8344E}" type="slidenum">
              <a:rPr lang="es-PE" smtClean="0"/>
              <a:t>‹Nº›</a:t>
            </a:fld>
            <a:endParaRPr lang="es-PE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2259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2B30BB-FCB0-4D9B-ABD1-C7A0FA4CCA22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16FFA2-DB18-4A97-B001-81C98EA8344E}" type="slidenum">
              <a:rPr lang="es-PE" smtClean="0"/>
              <a:t>‹Nº›</a:t>
            </a:fld>
            <a:endParaRPr lang="es-PE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39439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30BB-FCB0-4D9B-ABD1-C7A0FA4CCA22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6FFA2-DB18-4A97-B001-81C98EA834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53686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B30BB-FCB0-4D9B-ABD1-C7A0FA4CCA22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6FFA2-DB18-4A97-B001-81C98EA8344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40333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DC2B30BB-FCB0-4D9B-ABD1-C7A0FA4CCA22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F16FFA2-DB18-4A97-B001-81C98EA8344E}" type="slidenum">
              <a:rPr lang="es-PE" smtClean="0"/>
              <a:t>‹Nº›</a:t>
            </a:fld>
            <a:endParaRPr lang="es-PE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75420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58DFA-A086-4D1C-BEDB-4192CD6F9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3" y="1854896"/>
            <a:ext cx="8361229" cy="1816331"/>
          </a:xfrm>
        </p:spPr>
        <p:txBody>
          <a:bodyPr anchor="t"/>
          <a:lstStyle/>
          <a:p>
            <a:r>
              <a:rPr lang="es-MX" sz="4400" b="1" dirty="0"/>
              <a:t>Capacidad de procesamiento del servicio de análisis de video</a:t>
            </a:r>
            <a:endParaRPr lang="es-PE" sz="44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916FFA-E280-4181-8454-C8612764D7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162" y="4094938"/>
            <a:ext cx="6831673" cy="1086237"/>
          </a:xfrm>
        </p:spPr>
        <p:txBody>
          <a:bodyPr>
            <a:normAutofit fontScale="62500" lnSpcReduction="20000"/>
          </a:bodyPr>
          <a:lstStyle/>
          <a:p>
            <a:r>
              <a:rPr lang="es-MX" sz="2400" b="0" dirty="0">
                <a:solidFill>
                  <a:srgbClr val="52483C"/>
                </a:solidFill>
                <a:latin typeface="Calibri"/>
              </a:rPr>
              <a:t>Resultado de la primera corrida masiva sobre envíos reales de docentes: extracción y evaluación contra la rúbrica “video en clase” del diplomado, un envío por docente.</a:t>
            </a:r>
          </a:p>
          <a:p>
            <a:endParaRPr lang="es-MX" sz="2400" b="0" dirty="0">
              <a:solidFill>
                <a:srgbClr val="52483C"/>
              </a:solidFill>
              <a:latin typeface="Calibri"/>
            </a:endParaRPr>
          </a:p>
          <a:p>
            <a:r>
              <a:rPr lang="es-MX" sz="2400" dirty="0">
                <a:solidFill>
                  <a:srgbClr val="52483C"/>
                </a:solidFill>
                <a:latin typeface="Calibri"/>
              </a:rPr>
              <a:t>Aula: 1454</a:t>
            </a:r>
            <a:endParaRPr lang="es-MX" sz="2400" b="0" dirty="0">
              <a:solidFill>
                <a:srgbClr val="52483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0014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2">
            <a:extLst>
              <a:ext uri="{FF2B5EF4-FFF2-40B4-BE49-F238E27FC236}">
                <a16:creationId xmlns:a16="http://schemas.microsoft.com/office/drawing/2014/main" id="{D538FC79-73F1-42EF-8E4F-53A0C132DF9F}"/>
              </a:ext>
            </a:extLst>
          </p:cNvPr>
          <p:cNvSpPr txBox="1"/>
          <p:nvPr/>
        </p:nvSpPr>
        <p:spPr>
          <a:xfrm>
            <a:off x="922713" y="233387"/>
            <a:ext cx="10881360" cy="4821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defRPr sz="2800" b="1">
                <a:solidFill>
                  <a:srgbClr val="241F18"/>
                </a:solidFill>
                <a:latin typeface="Georgia"/>
              </a:defRPr>
            </a:lvl1pPr>
          </a:lstStyle>
          <a:p>
            <a:r>
              <a:rPr lang="es-PE" sz="2400" dirty="0"/>
              <a:t>Procesamiento de videos: versión carpeta con videos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C962C462-C77F-489B-8E02-F801CDC22790}"/>
              </a:ext>
            </a:extLst>
          </p:cNvPr>
          <p:cNvSpPr txBox="1"/>
          <p:nvPr/>
        </p:nvSpPr>
        <p:spPr>
          <a:xfrm>
            <a:off x="922713" y="741881"/>
            <a:ext cx="10709510" cy="29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PE" sz="1200" b="0" dirty="0">
                <a:solidFill>
                  <a:srgbClr val="52483C"/>
                </a:solidFill>
                <a:latin typeface="Calibri"/>
              </a:rPr>
              <a:t>Cada envío pasó por transcripción, </a:t>
            </a:r>
            <a:r>
              <a:rPr lang="es-PE" sz="1200" b="0" dirty="0" err="1">
                <a:solidFill>
                  <a:srgbClr val="52483C"/>
                </a:solidFill>
                <a:latin typeface="Calibri"/>
              </a:rPr>
              <a:t>KPIs</a:t>
            </a:r>
            <a:r>
              <a:rPr lang="es-PE" sz="1200" b="0" dirty="0">
                <a:solidFill>
                  <a:srgbClr val="52483C"/>
                </a:solidFill>
                <a:latin typeface="Calibri"/>
              </a:rPr>
              <a:t> de oratoria/audio/video y evaluación con la rúbrica del diplomado, de principio a fin, sin intervención manual.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66E3D179-3B8A-4BFF-8903-DB99E6CC2D13}"/>
              </a:ext>
            </a:extLst>
          </p:cNvPr>
          <p:cNvSpPr/>
          <p:nvPr/>
        </p:nvSpPr>
        <p:spPr>
          <a:xfrm>
            <a:off x="922713" y="1352775"/>
            <a:ext cx="2205590" cy="943608"/>
          </a:xfrm>
          <a:prstGeom prst="roundRect">
            <a:avLst>
              <a:gd name="adj" fmla="val 8000"/>
            </a:avLst>
          </a:prstGeom>
          <a:solidFill>
            <a:srgbClr val="F0EADC"/>
          </a:solidFill>
          <a:ln w="9525">
            <a:solidFill>
              <a:srgbClr val="DE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PE" sz="2800" b="1" dirty="0">
                <a:solidFill>
                  <a:srgbClr val="2B5E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43 / 43</a:t>
            </a:r>
          </a:p>
          <a:p>
            <a:pPr algn="ctr"/>
            <a:r>
              <a:rPr lang="es-PE" sz="1050" dirty="0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completados sin error</a:t>
            </a: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E99B60A4-8345-4C9F-8D06-DC542B98DA88}"/>
              </a:ext>
            </a:extLst>
          </p:cNvPr>
          <p:cNvSpPr/>
          <p:nvPr/>
        </p:nvSpPr>
        <p:spPr>
          <a:xfrm>
            <a:off x="3757353" y="1352775"/>
            <a:ext cx="2205590" cy="943608"/>
          </a:xfrm>
          <a:prstGeom prst="roundRect">
            <a:avLst>
              <a:gd name="adj" fmla="val 8000"/>
            </a:avLst>
          </a:prstGeom>
          <a:solidFill>
            <a:srgbClr val="F0EADC"/>
          </a:solidFill>
          <a:ln w="9525">
            <a:solidFill>
              <a:srgbClr val="DE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PE" sz="2800" b="1" dirty="0">
                <a:solidFill>
                  <a:srgbClr val="241F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12.6/h</a:t>
            </a:r>
          </a:p>
          <a:p>
            <a:pPr algn="ctr"/>
            <a:r>
              <a:rPr lang="es-PE" sz="1050" dirty="0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videos por hora</a:t>
            </a: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2B83FE0A-CAF2-4DF8-AADB-8D17441CFE76}"/>
              </a:ext>
            </a:extLst>
          </p:cNvPr>
          <p:cNvSpPr/>
          <p:nvPr/>
        </p:nvSpPr>
        <p:spPr>
          <a:xfrm>
            <a:off x="6591993" y="1352775"/>
            <a:ext cx="2205590" cy="943608"/>
          </a:xfrm>
          <a:prstGeom prst="roundRect">
            <a:avLst>
              <a:gd name="adj" fmla="val 8000"/>
            </a:avLst>
          </a:prstGeom>
          <a:solidFill>
            <a:srgbClr val="F0EADC"/>
          </a:solidFill>
          <a:ln w="9525">
            <a:solidFill>
              <a:srgbClr val="DE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PE" sz="2800" b="1" dirty="0">
                <a:solidFill>
                  <a:srgbClr val="241F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3h 25min</a:t>
            </a:r>
          </a:p>
          <a:p>
            <a:pPr algn="ctr"/>
            <a:r>
              <a:rPr lang="es-PE" sz="1050" dirty="0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duración total del lote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DB1B816C-95F7-40B4-81B6-B0816E0CF36E}"/>
              </a:ext>
            </a:extLst>
          </p:cNvPr>
          <p:cNvSpPr/>
          <p:nvPr/>
        </p:nvSpPr>
        <p:spPr>
          <a:xfrm>
            <a:off x="9426633" y="1352775"/>
            <a:ext cx="2205590" cy="943608"/>
          </a:xfrm>
          <a:prstGeom prst="roundRect">
            <a:avLst>
              <a:gd name="adj" fmla="val 8000"/>
            </a:avLst>
          </a:prstGeom>
          <a:solidFill>
            <a:srgbClr val="F0EADC"/>
          </a:solidFill>
          <a:ln w="9525">
            <a:solidFill>
              <a:srgbClr val="DE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PE" sz="2800" b="1" dirty="0">
                <a:solidFill>
                  <a:srgbClr val="241F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4.4 min</a:t>
            </a:r>
          </a:p>
          <a:p>
            <a:pPr algn="ctr"/>
            <a:r>
              <a:rPr lang="es-PE" sz="1050" dirty="0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tiempo promedio por video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6E00F1B7-CD38-4D71-B94E-8D9CC573EF46}"/>
              </a:ext>
            </a:extLst>
          </p:cNvPr>
          <p:cNvSpPr txBox="1"/>
          <p:nvPr/>
        </p:nvSpPr>
        <p:spPr>
          <a:xfrm>
            <a:off x="922713" y="2764194"/>
            <a:ext cx="10881360" cy="3522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defRPr sz="2800" b="1">
                <a:solidFill>
                  <a:srgbClr val="241F18"/>
                </a:solidFill>
                <a:latin typeface="Georgia"/>
              </a:defRPr>
            </a:lvl1pPr>
          </a:lstStyle>
          <a:p>
            <a:r>
              <a:rPr lang="es-PE" sz="1600" dirty="0"/>
              <a:t>El sistema procesa más rápido de lo que dura la clase</a:t>
            </a:r>
          </a:p>
        </p:txBody>
      </p:sp>
      <p:pic>
        <p:nvPicPr>
          <p:cNvPr id="15" name="Picture 3" descr="chart_scatter.png">
            <a:extLst>
              <a:ext uri="{FF2B5EF4-FFF2-40B4-BE49-F238E27FC236}">
                <a16:creationId xmlns:a16="http://schemas.microsoft.com/office/drawing/2014/main" id="{3B388134-AFFF-4B72-8C84-07E907EC2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523" y="3211044"/>
            <a:ext cx="5758960" cy="3453099"/>
          </a:xfrm>
          <a:prstGeom prst="rect">
            <a:avLst/>
          </a:prstGeom>
        </p:spPr>
      </p:pic>
      <p:sp>
        <p:nvSpPr>
          <p:cNvPr id="16" name="Rectangle 4">
            <a:extLst>
              <a:ext uri="{FF2B5EF4-FFF2-40B4-BE49-F238E27FC236}">
                <a16:creationId xmlns:a16="http://schemas.microsoft.com/office/drawing/2014/main" id="{E0E2E9C9-DF59-401B-9401-167299A59918}"/>
              </a:ext>
            </a:extLst>
          </p:cNvPr>
          <p:cNvSpPr/>
          <p:nvPr/>
        </p:nvSpPr>
        <p:spPr>
          <a:xfrm>
            <a:off x="7328788" y="4369159"/>
            <a:ext cx="4206720" cy="891472"/>
          </a:xfrm>
          <a:prstGeom prst="rect">
            <a:avLst/>
          </a:prstGeom>
          <a:solidFill>
            <a:srgbClr val="F0EADC"/>
          </a:solidFill>
          <a:ln w="285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37160" rtlCol="0" anchor="ctr"/>
          <a:lstStyle/>
          <a:p>
            <a:pPr algn="ctr"/>
            <a:r>
              <a:rPr lang="es-PE" sz="1100" dirty="0">
                <a:solidFill>
                  <a:srgbClr val="52483C"/>
                </a:solidFill>
                <a:latin typeface="Calibri"/>
              </a:rPr>
              <a:t>En promedio, analizar un video tarda 0.82× su propia duración (mediana 0.78×). El 81% de los videos (35 de 43) se procesó en menos tiempo del que dura la grabación.</a:t>
            </a:r>
          </a:p>
        </p:txBody>
      </p:sp>
    </p:spTree>
    <p:extLst>
      <p:ext uri="{BB962C8B-B14F-4D97-AF65-F5344CB8AC3E}">
        <p14:creationId xmlns:p14="http://schemas.microsoft.com/office/powerpoint/2010/main" val="3768741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2">
            <a:extLst>
              <a:ext uri="{FF2B5EF4-FFF2-40B4-BE49-F238E27FC236}">
                <a16:creationId xmlns:a16="http://schemas.microsoft.com/office/drawing/2014/main" id="{2B661E7D-1144-4FBA-9F85-DA027B1FF1DC}"/>
              </a:ext>
            </a:extLst>
          </p:cNvPr>
          <p:cNvSpPr txBox="1"/>
          <p:nvPr/>
        </p:nvSpPr>
        <p:spPr>
          <a:xfrm>
            <a:off x="989215" y="577734"/>
            <a:ext cx="10881360" cy="48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PE" sz="2400" b="1" dirty="0">
                <a:solidFill>
                  <a:srgbClr val="241F18"/>
                </a:solidFill>
                <a:latin typeface="Georgia"/>
              </a:rPr>
              <a:t>Lo que grabaron los docentes vs. lo que tardó analizarlo</a:t>
            </a:r>
          </a:p>
        </p:txBody>
      </p:sp>
      <p:graphicFrame>
        <p:nvGraphicFramePr>
          <p:cNvPr id="19" name="Table 3">
            <a:extLst>
              <a:ext uri="{FF2B5EF4-FFF2-40B4-BE49-F238E27FC236}">
                <a16:creationId xmlns:a16="http://schemas.microsoft.com/office/drawing/2014/main" id="{89AD55D2-D90E-4601-8ACE-C761271F5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272249"/>
              </p:ext>
            </p:extLst>
          </p:nvPr>
        </p:nvGraphicFramePr>
        <p:xfrm>
          <a:off x="2522007" y="1634569"/>
          <a:ext cx="357399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5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Duración de los videos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 lang="es-PE" noProof="0"/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Suma de las 43 grabaciones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228m 45s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Promedio por video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5.3 min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Mediana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5.8 min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Más corto / más largo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 dirty="0"/>
                        <a:t>6s / 13.6 min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" name="Table 4">
            <a:extLst>
              <a:ext uri="{FF2B5EF4-FFF2-40B4-BE49-F238E27FC236}">
                <a16:creationId xmlns:a16="http://schemas.microsoft.com/office/drawing/2014/main" id="{91C61608-7544-453A-A7B9-4386F875E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247871"/>
              </p:ext>
            </p:extLst>
          </p:nvPr>
        </p:nvGraphicFramePr>
        <p:xfrm>
          <a:off x="6601637" y="1633769"/>
          <a:ext cx="318713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2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s-PE" noProof="0" dirty="0"/>
                        <a:t>Tiempo de procesamiento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 lang="es-PE" noProof="0"/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Suma de los 43 análisis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187m 08s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Promedio por video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 dirty="0"/>
                        <a:t>4.4 min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Mediana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4.3 min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Más corto / más largo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 dirty="0"/>
                        <a:t>8s / 10.6 min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Rectangle 5">
            <a:extLst>
              <a:ext uri="{FF2B5EF4-FFF2-40B4-BE49-F238E27FC236}">
                <a16:creationId xmlns:a16="http://schemas.microsoft.com/office/drawing/2014/main" id="{792BBC37-148D-48C0-86EE-AB25BB1FC3E2}"/>
              </a:ext>
            </a:extLst>
          </p:cNvPr>
          <p:cNvSpPr/>
          <p:nvPr/>
        </p:nvSpPr>
        <p:spPr>
          <a:xfrm>
            <a:off x="989215" y="5128934"/>
            <a:ext cx="10698480" cy="673332"/>
          </a:xfrm>
          <a:prstGeom prst="rect">
            <a:avLst/>
          </a:prstGeom>
          <a:solidFill>
            <a:srgbClr val="F0EADC"/>
          </a:solidFill>
          <a:ln w="285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37160" rtlCol="0" anchor="ctr"/>
          <a:lstStyle/>
          <a:p>
            <a:pPr algn="ctr"/>
            <a:r>
              <a:rPr lang="es-PE" sz="1200" dirty="0">
                <a:solidFill>
                  <a:srgbClr val="52483C"/>
                </a:solidFill>
                <a:latin typeface="Calibri"/>
              </a:rPr>
              <a:t>La duración total del lote (3h 51min) es algo mayor que la suma de los tiempos de análisis (3h 07min) porque los videos se procesaron uno a la vez, en el orden en que llegaron, con una breve espera entre cada uno.</a:t>
            </a:r>
          </a:p>
        </p:txBody>
      </p:sp>
    </p:spTree>
    <p:extLst>
      <p:ext uri="{BB962C8B-B14F-4D97-AF65-F5344CB8AC3E}">
        <p14:creationId xmlns:p14="http://schemas.microsoft.com/office/powerpoint/2010/main" val="1502185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FDB11203-ECA2-4A06-A20C-678454600C51}"/>
              </a:ext>
            </a:extLst>
          </p:cNvPr>
          <p:cNvSpPr txBox="1"/>
          <p:nvPr/>
        </p:nvSpPr>
        <p:spPr>
          <a:xfrm>
            <a:off x="906087" y="457200"/>
            <a:ext cx="10881360" cy="547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PE" sz="2800" b="1" dirty="0">
                <a:solidFill>
                  <a:srgbClr val="241F18"/>
                </a:solidFill>
                <a:latin typeface="Georgia"/>
              </a:rPr>
              <a:t>Todo corrió en CPU — no se usó GPU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FC2981-CE3A-4C22-91C2-D1711AA7365C}"/>
              </a:ext>
            </a:extLst>
          </p:cNvPr>
          <p:cNvSpPr txBox="1"/>
          <p:nvPr/>
        </p:nvSpPr>
        <p:spPr>
          <a:xfrm>
            <a:off x="906087" y="1089135"/>
            <a:ext cx="10698480" cy="52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PE" sz="1250" b="0">
                <a:solidFill>
                  <a:srgbClr val="52483C"/>
                </a:solidFill>
                <a:latin typeface="Calibri"/>
              </a:rPr>
              <a:t>Esta máquina no tiene aceleración por GPU habilitada: Whisper, el modelo de detección de objetos y el análisis de postura corren enteramente sobre CPU. Cifras medidas en una corrida de validación con la misma configuración (un video a la vez), justo antes del lote completo.</a:t>
            </a:r>
          </a:p>
        </p:txBody>
      </p:sp>
      <p:pic>
        <p:nvPicPr>
          <p:cNvPr id="6" name="Picture 4" descr="chart_recursos.png">
            <a:extLst>
              <a:ext uri="{FF2B5EF4-FFF2-40B4-BE49-F238E27FC236}">
                <a16:creationId xmlns:a16="http://schemas.microsoft.com/office/drawing/2014/main" id="{8BFD7584-4BA7-4106-BC33-0D17D9FF1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306" y="2003535"/>
            <a:ext cx="8456921" cy="3338259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35C0B9E8-40AC-47CA-9432-0B2DFF4C65A4}"/>
              </a:ext>
            </a:extLst>
          </p:cNvPr>
          <p:cNvSpPr/>
          <p:nvPr/>
        </p:nvSpPr>
        <p:spPr>
          <a:xfrm>
            <a:off x="906087" y="5760719"/>
            <a:ext cx="10698480" cy="575017"/>
          </a:xfrm>
          <a:prstGeom prst="rect">
            <a:avLst/>
          </a:prstGeom>
          <a:solidFill>
            <a:srgbClr val="F0EADC"/>
          </a:solidFill>
          <a:ln w="28575">
            <a:solidFill>
              <a:srgbClr val="B97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37160" rtlCol="0" anchor="ctr"/>
          <a:lstStyle/>
          <a:p>
            <a:pPr algn="ctr"/>
            <a:r>
              <a:rPr lang="es-PE" sz="1200" dirty="0">
                <a:solidFill>
                  <a:srgbClr val="52483C"/>
                </a:solidFill>
                <a:latin typeface="Calibri"/>
              </a:rPr>
              <a:t>El pico de CPU llega a 100% incluso con un solo video a la vez: la transcripción (</a:t>
            </a:r>
            <a:r>
              <a:rPr lang="es-PE" sz="1200" dirty="0" err="1">
                <a:solidFill>
                  <a:srgbClr val="52483C"/>
                </a:solidFill>
                <a:latin typeface="Calibri"/>
              </a:rPr>
              <a:t>Whisper</a:t>
            </a:r>
            <a:r>
              <a:rPr lang="es-PE" sz="1200" dirty="0">
                <a:solidFill>
                  <a:srgbClr val="52483C"/>
                </a:solidFill>
                <a:latin typeface="Calibri"/>
              </a:rPr>
              <a:t>) por sí sola ya usa todos los núcleos disponibles, correr más de uno en paralelo satura al servidor como se visualizo en pruebas anteriores.</a:t>
            </a:r>
          </a:p>
        </p:txBody>
      </p:sp>
    </p:spTree>
    <p:extLst>
      <p:ext uri="{BB962C8B-B14F-4D97-AF65-F5344CB8AC3E}">
        <p14:creationId xmlns:p14="http://schemas.microsoft.com/office/powerpoint/2010/main" val="3365852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2">
            <a:extLst>
              <a:ext uri="{FF2B5EF4-FFF2-40B4-BE49-F238E27FC236}">
                <a16:creationId xmlns:a16="http://schemas.microsoft.com/office/drawing/2014/main" id="{027A3206-5C13-4A59-A89D-05876173AC30}"/>
              </a:ext>
            </a:extLst>
          </p:cNvPr>
          <p:cNvSpPr txBox="1"/>
          <p:nvPr/>
        </p:nvSpPr>
        <p:spPr>
          <a:xfrm>
            <a:off x="1039090" y="444731"/>
            <a:ext cx="10881360" cy="547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PE" sz="2800" b="1" dirty="0">
                <a:solidFill>
                  <a:srgbClr val="241F18"/>
                </a:solidFill>
                <a:latin typeface="Georgia"/>
              </a:rPr>
              <a:t>¿Cuánto tardaría un lote más grande?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F1A5130A-6E9E-4D02-8418-77B442C4350F}"/>
              </a:ext>
            </a:extLst>
          </p:cNvPr>
          <p:cNvSpPr txBox="1"/>
          <p:nvPr/>
        </p:nvSpPr>
        <p:spPr>
          <a:xfrm>
            <a:off x="1039090" y="1048761"/>
            <a:ext cx="9601200" cy="308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PE" sz="1300" b="0" dirty="0">
                <a:solidFill>
                  <a:srgbClr val="52483C"/>
                </a:solidFill>
                <a:latin typeface="Calibri"/>
              </a:rPr>
              <a:t>Manteniendo el mismo ritmo (12.6 videos/hora, un video a la vez, solo CPU):</a:t>
            </a:r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48F4F8C7-1BDE-4B7F-A93D-6C46A7D19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467498"/>
              </p:ext>
            </p:extLst>
          </p:nvPr>
        </p:nvGraphicFramePr>
        <p:xfrm>
          <a:off x="3352800" y="2017115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 err="1"/>
                        <a:t>Cantidad</a:t>
                      </a:r>
                      <a:r>
                        <a:rPr dirty="0"/>
                        <a:t> de videos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Tiempo estimado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dirty="0"/>
                        <a:t>100 videos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t>≈ 7.9 horas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t>500 videos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t>≈ 1.6 días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t>1,000 videos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dirty="0"/>
                        <a:t>≈ 3.3 días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5">
            <a:extLst>
              <a:ext uri="{FF2B5EF4-FFF2-40B4-BE49-F238E27FC236}">
                <a16:creationId xmlns:a16="http://schemas.microsoft.com/office/drawing/2014/main" id="{75EE3C9F-20C7-4F5C-827A-A9D066B7344B}"/>
              </a:ext>
            </a:extLst>
          </p:cNvPr>
          <p:cNvSpPr/>
          <p:nvPr/>
        </p:nvSpPr>
        <p:spPr>
          <a:xfrm>
            <a:off x="1039090" y="4548358"/>
            <a:ext cx="10698480" cy="868840"/>
          </a:xfrm>
          <a:prstGeom prst="rect">
            <a:avLst/>
          </a:prstGeom>
          <a:solidFill>
            <a:srgbClr val="F0EADC"/>
          </a:solidFill>
          <a:ln w="285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37160" rtlCol="0" anchor="ctr"/>
          <a:lstStyle/>
          <a:p>
            <a:pPr algn="ctr"/>
            <a:r>
              <a:rPr lang="es-PE" sz="1200" dirty="0">
                <a:solidFill>
                  <a:srgbClr val="52483C"/>
                </a:solidFill>
                <a:latin typeface="Calibri"/>
              </a:rPr>
              <a:t>Proyección lineal a partir del ritmo medido, depende si los videos nuevos tienen una duración similar a este lote (promedio 5.3 min) y llegan en un solo bloque, como en esta prueba de corrida. Para acelerar de forma confiable, el siguiente paso es evaluar más de un video a la vez o mover la transcripción a GPU, aun esta en proceso de prueba para algún evento.</a:t>
            </a:r>
          </a:p>
        </p:txBody>
      </p:sp>
    </p:spTree>
    <p:extLst>
      <p:ext uri="{BB962C8B-B14F-4D97-AF65-F5344CB8AC3E}">
        <p14:creationId xmlns:p14="http://schemas.microsoft.com/office/powerpoint/2010/main" val="774497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6405" y="725682"/>
            <a:ext cx="8989842" cy="48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PE" sz="2400" b="1" dirty="0">
                <a:solidFill>
                  <a:srgbClr val="241F18"/>
                </a:solidFill>
                <a:latin typeface="Georgia"/>
              </a:rPr>
              <a:t>Calidad de la evaluación</a:t>
            </a:r>
          </a:p>
        </p:txBody>
      </p:sp>
      <p:pic>
        <p:nvPicPr>
          <p:cNvPr id="4" name="Picture 3" descr="chart_confiabi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437" y="1538952"/>
            <a:ext cx="6107723" cy="289313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0538" y="1538952"/>
            <a:ext cx="2429022" cy="960120"/>
          </a:xfrm>
          <a:prstGeom prst="roundRect">
            <a:avLst>
              <a:gd name="adj" fmla="val 8000"/>
            </a:avLst>
          </a:prstGeom>
          <a:solidFill>
            <a:srgbClr val="F0EADC"/>
          </a:solidFill>
          <a:ln w="9525">
            <a:solidFill>
              <a:srgbClr val="DE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PE" sz="3000" b="1" dirty="0">
                <a:solidFill>
                  <a:srgbClr val="2B5E3C"/>
                </a:solidFill>
                <a:latin typeface="Consolas"/>
              </a:rPr>
              <a:t>22/43</a:t>
            </a:r>
          </a:p>
          <a:p>
            <a:pPr algn="ctr"/>
            <a:r>
              <a:rPr lang="es-PE" sz="1100" dirty="0">
                <a:solidFill>
                  <a:srgbClr val="52483C"/>
                </a:solidFill>
                <a:latin typeface="Calibri"/>
              </a:rPr>
              <a:t>transcripciones confiables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0538" y="2636232"/>
            <a:ext cx="2429022" cy="960120"/>
          </a:xfrm>
          <a:prstGeom prst="roundRect">
            <a:avLst>
              <a:gd name="adj" fmla="val 8000"/>
            </a:avLst>
          </a:prstGeom>
          <a:solidFill>
            <a:srgbClr val="F0EADC"/>
          </a:solidFill>
          <a:ln w="9525">
            <a:solidFill>
              <a:srgbClr val="DE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PE" sz="3000" b="1" dirty="0">
                <a:solidFill>
                  <a:srgbClr val="B9752A"/>
                </a:solidFill>
                <a:latin typeface="Consolas"/>
              </a:rPr>
              <a:t>21/43</a:t>
            </a:r>
          </a:p>
          <a:p>
            <a:pPr algn="ctr"/>
            <a:r>
              <a:rPr lang="es-PE" sz="1100" dirty="0">
                <a:solidFill>
                  <a:srgbClr val="52483C"/>
                </a:solidFill>
                <a:latin typeface="Calibri"/>
              </a:rPr>
              <a:t>transcripciones no confiables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32437" y="4763235"/>
            <a:ext cx="8927123" cy="668217"/>
          </a:xfrm>
          <a:prstGeom prst="rect">
            <a:avLst/>
          </a:prstGeom>
          <a:solidFill>
            <a:srgbClr val="F0EADC"/>
          </a:solidFill>
          <a:ln w="28575">
            <a:solidFill>
              <a:srgbClr val="B97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37160" rtlCol="0" anchor="ctr"/>
          <a:lstStyle/>
          <a:p>
            <a:pPr algn="ctr"/>
            <a:r>
              <a:rPr lang="es-PE" sz="1200">
                <a:solidFill>
                  <a:srgbClr val="52483C"/>
                </a:solidFill>
                <a:latin typeface="Calibri"/>
              </a:rPr>
              <a:t>La evaluación de contenido se basa en la transcripción: si el audio no es confiable, la evaluación hereda esa incertidumbre, aunque el proceso técnico haya terminado sin error.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6405" y="5994309"/>
            <a:ext cx="10499188" cy="242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PE" sz="900" b="0" dirty="0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Confiabilidad calculada con las señales propias de </a:t>
            </a:r>
            <a:r>
              <a:rPr lang="es-PE" sz="900" b="0" dirty="0" err="1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Whisper</a:t>
            </a:r>
            <a:r>
              <a:rPr lang="es-PE" sz="900" b="0" dirty="0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s-PE" sz="900" b="0" dirty="0" err="1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avg_logprob</a:t>
            </a:r>
            <a:r>
              <a:rPr lang="es-PE" sz="900" b="0" dirty="0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PE" sz="900" b="0" dirty="0" err="1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no_speech_prob</a:t>
            </a:r>
            <a:r>
              <a:rPr lang="es-PE" sz="900" b="0" dirty="0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PE" sz="900" b="0" dirty="0" err="1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compression_ratio</a:t>
            </a:r>
            <a:r>
              <a:rPr lang="es-PE" sz="900" b="0" dirty="0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— umbral sin calibrar aún contra una muestra revisada a mano.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02444" y="1040629"/>
            <a:ext cx="10881360" cy="31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PE" sz="1400" b="1" dirty="0">
                <a:solidFill>
                  <a:srgbClr val="241F18"/>
                </a:solidFill>
                <a:latin typeface="Georgia"/>
              </a:rPr>
              <a:t>¿Por qué baja la confiabilidad?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5925" y="1416753"/>
            <a:ext cx="9676814" cy="538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PE" sz="1300" b="0" dirty="0">
                <a:solidFill>
                  <a:srgbClr val="52483C"/>
                </a:solidFill>
                <a:latin typeface="Calibri"/>
              </a:rPr>
              <a:t>El gate de calidad combina 3 señales propias de </a:t>
            </a:r>
            <a:r>
              <a:rPr lang="es-PE" sz="1300" b="0" dirty="0" err="1">
                <a:solidFill>
                  <a:srgbClr val="52483C"/>
                </a:solidFill>
                <a:latin typeface="Calibri"/>
              </a:rPr>
              <a:t>Whisper</a:t>
            </a:r>
            <a:r>
              <a:rPr lang="es-PE" sz="1300" b="0" dirty="0">
                <a:solidFill>
                  <a:srgbClr val="52483C"/>
                </a:solidFill>
                <a:latin typeface="Calibri"/>
              </a:rPr>
              <a:t>. Separando cuál dispara el problema en los videos no confiables, una domina con claridad: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528848"/>
              </p:ext>
            </p:extLst>
          </p:nvPr>
        </p:nvGraphicFramePr>
        <p:xfrm>
          <a:off x="2518555" y="2080724"/>
          <a:ext cx="7431553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1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7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2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Señal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Qué detecta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% en videos no confiables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no_speech_prob alto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No se detecta una voz clara en ese tramo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44.0%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avg_logprob bajo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Palabras reconocidas con baja confianza (acento, dicción)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2.8%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compression_ratio alto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/>
                        <a:t>Repetición / alucinación del modelo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lang="es-PE" noProof="0" dirty="0"/>
                        <a:t>0.0%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248801" y="4493919"/>
            <a:ext cx="9676814" cy="822960"/>
          </a:xfrm>
          <a:prstGeom prst="rect">
            <a:avLst/>
          </a:prstGeom>
          <a:solidFill>
            <a:srgbClr val="F0EADC"/>
          </a:solidFill>
          <a:ln w="28575">
            <a:solidFill>
              <a:srgbClr val="B97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37160" rtlCol="0" anchor="ctr"/>
          <a:lstStyle/>
          <a:p>
            <a:pPr algn="ctr"/>
            <a:r>
              <a:rPr lang="es-PE" sz="1200" dirty="0">
                <a:solidFill>
                  <a:srgbClr val="52483C"/>
                </a:solidFill>
                <a:latin typeface="Calibri"/>
              </a:rPr>
              <a:t>La señal dominante es “</a:t>
            </a:r>
            <a:r>
              <a:rPr lang="es-PE" sz="1200" dirty="0" err="1">
                <a:solidFill>
                  <a:srgbClr val="52483C"/>
                </a:solidFill>
                <a:latin typeface="Calibri"/>
              </a:rPr>
              <a:t>no_speech_prob</a:t>
            </a:r>
            <a:r>
              <a:rPr lang="es-PE" sz="1200" dirty="0">
                <a:solidFill>
                  <a:srgbClr val="52483C"/>
                </a:solidFill>
                <a:latin typeface="Calibri"/>
              </a:rPr>
              <a:t>”: el modelo no logra aislar una voz clara, no que la transcriba mal. Es consistente con ruido ambiental o cruce de voces (varios estudiantes hablando a la vez, micrófono lejos del docente), no con acento o mala pronunciación, que se vería como </a:t>
            </a:r>
            <a:r>
              <a:rPr lang="es-PE" sz="1200" dirty="0" err="1">
                <a:solidFill>
                  <a:srgbClr val="52483C"/>
                </a:solidFill>
                <a:latin typeface="Calibri"/>
              </a:rPr>
              <a:t>avg_logprob</a:t>
            </a:r>
            <a:r>
              <a:rPr lang="es-PE" sz="1200" dirty="0">
                <a:solidFill>
                  <a:srgbClr val="52483C"/>
                </a:solidFill>
                <a:latin typeface="Calibri"/>
              </a:rPr>
              <a:t> bajo.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48801" y="5620875"/>
            <a:ext cx="9676814" cy="735037"/>
          </a:xfrm>
          <a:prstGeom prst="rect">
            <a:avLst/>
          </a:prstGeom>
          <a:solidFill>
            <a:srgbClr val="F0EADC"/>
          </a:solidFill>
          <a:ln w="285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37160" rtlCol="0" anchor="ctr"/>
          <a:lstStyle/>
          <a:p>
            <a:pPr algn="ctr"/>
            <a:r>
              <a:rPr lang="es-PE" sz="1200" dirty="0">
                <a:solidFill>
                  <a:srgbClr val="52483C"/>
                </a:solidFill>
                <a:latin typeface="Calibri"/>
              </a:rPr>
              <a:t>El modelo de reducción de ruido no ayudó mucho: reduce ruido de fondo estacionario, pero el problema real es cruce de voces humanas superpuestas que requiere una separación de fuentes, no un filtro de ruido genérico.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3A0A2C49-CB2B-48EB-A8EC-E6C3504B1997}"/>
              </a:ext>
            </a:extLst>
          </p:cNvPr>
          <p:cNvSpPr txBox="1"/>
          <p:nvPr/>
        </p:nvSpPr>
        <p:spPr>
          <a:xfrm>
            <a:off x="802444" y="502088"/>
            <a:ext cx="8989842" cy="48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PE" sz="2400" b="1" dirty="0">
                <a:solidFill>
                  <a:srgbClr val="241F18"/>
                </a:solidFill>
                <a:latin typeface="Georgia"/>
              </a:rPr>
              <a:t>Calidad de la evaluación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>
            <a:extLst>
              <a:ext uri="{FF2B5EF4-FFF2-40B4-BE49-F238E27FC236}">
                <a16:creationId xmlns:a16="http://schemas.microsoft.com/office/drawing/2014/main" id="{581F4077-EAB6-4192-993D-FA044BE8B66A}"/>
              </a:ext>
            </a:extLst>
          </p:cNvPr>
          <p:cNvSpPr txBox="1"/>
          <p:nvPr/>
        </p:nvSpPr>
        <p:spPr>
          <a:xfrm>
            <a:off x="872837" y="259464"/>
            <a:ext cx="10881360" cy="547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MX" sz="2800" b="1" dirty="0">
                <a:solidFill>
                  <a:srgbClr val="241F18"/>
                </a:solidFill>
                <a:latin typeface="Georgia"/>
              </a:rPr>
              <a:t>Procesamiento de vídeos: versión Moodle</a:t>
            </a:r>
            <a:endParaRPr sz="2800" b="1" dirty="0">
              <a:solidFill>
                <a:srgbClr val="241F18"/>
              </a:solidFill>
              <a:latin typeface="Georgia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B5C21DC-76B8-4F87-8A75-597505EECE9C}"/>
              </a:ext>
            </a:extLst>
          </p:cNvPr>
          <p:cNvSpPr txBox="1"/>
          <p:nvPr/>
        </p:nvSpPr>
        <p:spPr>
          <a:xfrm>
            <a:off x="872837" y="806601"/>
            <a:ext cx="10058400" cy="5389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defRPr sz="1300" b="0">
                <a:solidFill>
                  <a:srgbClr val="52483C"/>
                </a:solidFill>
                <a:latin typeface="Calibri"/>
              </a:defRPr>
            </a:lvl1pPr>
          </a:lstStyle>
          <a:p>
            <a:r>
              <a:rPr lang="es-MX" dirty="0"/>
              <a:t>Se </a:t>
            </a:r>
            <a:r>
              <a:rPr lang="es-PE" dirty="0"/>
              <a:t>descarga</a:t>
            </a:r>
            <a:r>
              <a:rPr dirty="0"/>
              <a:t> </a:t>
            </a:r>
            <a:r>
              <a:rPr dirty="0" err="1"/>
              <a:t>directo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una </a:t>
            </a:r>
            <a:r>
              <a:rPr dirty="0" err="1"/>
              <a:t>actividad</a:t>
            </a:r>
            <a:r>
              <a:rPr dirty="0"/>
              <a:t> de </a:t>
            </a:r>
            <a:r>
              <a:rPr dirty="0" err="1"/>
              <a:t>tarea</a:t>
            </a:r>
            <a:r>
              <a:rPr dirty="0"/>
              <a:t> de Moodle (aula 1454): </a:t>
            </a:r>
            <a:r>
              <a:rPr dirty="0" err="1"/>
              <a:t>el</a:t>
            </a:r>
            <a:r>
              <a:rPr dirty="0"/>
              <a:t> script </a:t>
            </a:r>
            <a:r>
              <a:rPr dirty="0" err="1"/>
              <a:t>localiza</a:t>
            </a:r>
            <a:r>
              <a:rPr dirty="0"/>
              <a:t> las </a:t>
            </a:r>
            <a:r>
              <a:rPr dirty="0" err="1"/>
              <a:t>entregas</a:t>
            </a:r>
            <a:r>
              <a:rPr dirty="0"/>
              <a:t>, </a:t>
            </a:r>
            <a:r>
              <a:rPr dirty="0" err="1"/>
              <a:t>descarga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video y lo </a:t>
            </a:r>
            <a:r>
              <a:rPr dirty="0" err="1"/>
              <a:t>sube</a:t>
            </a:r>
            <a:r>
              <a:rPr dirty="0"/>
              <a:t> al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servicio</a:t>
            </a:r>
            <a:r>
              <a:rPr dirty="0"/>
              <a:t> de </a:t>
            </a:r>
            <a:r>
              <a:rPr dirty="0" err="1"/>
              <a:t>análisis</a:t>
            </a:r>
            <a:r>
              <a:rPr dirty="0"/>
              <a:t> </a:t>
            </a:r>
            <a:r>
              <a:rPr lang="es-MX" dirty="0"/>
              <a:t>(no pasa </a:t>
            </a:r>
            <a:r>
              <a:rPr dirty="0"/>
              <a:t>por una </a:t>
            </a:r>
            <a:r>
              <a:rPr dirty="0" err="1"/>
              <a:t>carpeta</a:t>
            </a:r>
            <a:r>
              <a:rPr dirty="0"/>
              <a:t> local</a:t>
            </a:r>
            <a:r>
              <a:rPr lang="es-MX" dirty="0"/>
              <a:t>)</a:t>
            </a:r>
            <a:r>
              <a:rPr dirty="0"/>
              <a:t>.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B294B865-58F3-457B-B5DF-2E47B3817463}"/>
              </a:ext>
            </a:extLst>
          </p:cNvPr>
          <p:cNvSpPr/>
          <p:nvPr/>
        </p:nvSpPr>
        <p:spPr>
          <a:xfrm>
            <a:off x="872837" y="1459958"/>
            <a:ext cx="2194560" cy="943607"/>
          </a:xfrm>
          <a:prstGeom prst="roundRect">
            <a:avLst>
              <a:gd name="adj" fmla="val 8000"/>
            </a:avLst>
          </a:prstGeom>
          <a:solidFill>
            <a:srgbClr val="F0EADC"/>
          </a:solidFill>
          <a:ln w="9525">
            <a:solidFill>
              <a:srgbClr val="DE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3000" b="1" dirty="0">
                <a:solidFill>
                  <a:srgbClr val="2B5E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44 / 44</a:t>
            </a:r>
          </a:p>
          <a:p>
            <a:pPr algn="ctr"/>
            <a:r>
              <a:rPr lang="es-PE" sz="1100" dirty="0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completados</a:t>
            </a:r>
            <a:r>
              <a:rPr sz="1100" dirty="0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sin error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7EFF7887-4491-4C5A-B6C9-5808E4B65B6B}"/>
              </a:ext>
            </a:extLst>
          </p:cNvPr>
          <p:cNvSpPr/>
          <p:nvPr/>
        </p:nvSpPr>
        <p:spPr>
          <a:xfrm>
            <a:off x="3707477" y="1459958"/>
            <a:ext cx="2194560" cy="943607"/>
          </a:xfrm>
          <a:prstGeom prst="roundRect">
            <a:avLst>
              <a:gd name="adj" fmla="val 8000"/>
            </a:avLst>
          </a:prstGeom>
          <a:solidFill>
            <a:srgbClr val="F0EADC"/>
          </a:solidFill>
          <a:ln w="9525">
            <a:solidFill>
              <a:srgbClr val="DE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3000" b="1">
                <a:solidFill>
                  <a:srgbClr val="241F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3h 29min</a:t>
            </a:r>
          </a:p>
          <a:p>
            <a:pPr algn="ctr"/>
            <a:r>
              <a:rPr sz="1100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duración total del lote</a:t>
            </a: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114D9333-C4CE-49C4-9BD5-555152899327}"/>
              </a:ext>
            </a:extLst>
          </p:cNvPr>
          <p:cNvSpPr/>
          <p:nvPr/>
        </p:nvSpPr>
        <p:spPr>
          <a:xfrm>
            <a:off x="6542117" y="1459958"/>
            <a:ext cx="2194560" cy="943607"/>
          </a:xfrm>
          <a:prstGeom prst="roundRect">
            <a:avLst>
              <a:gd name="adj" fmla="val 8000"/>
            </a:avLst>
          </a:prstGeom>
          <a:solidFill>
            <a:srgbClr val="F0EADC"/>
          </a:solidFill>
          <a:ln w="9525">
            <a:solidFill>
              <a:srgbClr val="DE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3000" b="1">
                <a:solidFill>
                  <a:srgbClr val="241F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3h 51min</a:t>
            </a:r>
          </a:p>
          <a:p>
            <a:pPr algn="ctr"/>
            <a:r>
              <a:rPr sz="1100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contenido de video total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A7EF4A5D-EA88-4D61-A88E-FB066EABEFDB}"/>
              </a:ext>
            </a:extLst>
          </p:cNvPr>
          <p:cNvSpPr/>
          <p:nvPr/>
        </p:nvSpPr>
        <p:spPr>
          <a:xfrm>
            <a:off x="9376757" y="1459958"/>
            <a:ext cx="2194560" cy="943607"/>
          </a:xfrm>
          <a:prstGeom prst="roundRect">
            <a:avLst>
              <a:gd name="adj" fmla="val 8000"/>
            </a:avLst>
          </a:prstGeom>
          <a:solidFill>
            <a:srgbClr val="F0EADC"/>
          </a:solidFill>
          <a:ln w="9525">
            <a:solidFill>
              <a:srgbClr val="DE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3000" b="1">
                <a:solidFill>
                  <a:srgbClr val="241F1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0.91×</a:t>
            </a:r>
          </a:p>
          <a:p>
            <a:pPr algn="ctr"/>
            <a:r>
              <a:rPr sz="1100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lote / contenido real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41AA7628-2C0A-4F25-97B6-FD30CC31C200}"/>
              </a:ext>
            </a:extLst>
          </p:cNvPr>
          <p:cNvSpPr/>
          <p:nvPr/>
        </p:nvSpPr>
        <p:spPr>
          <a:xfrm>
            <a:off x="872837" y="2812087"/>
            <a:ext cx="10698480" cy="468927"/>
          </a:xfrm>
          <a:prstGeom prst="rect">
            <a:avLst/>
          </a:prstGeom>
          <a:solidFill>
            <a:srgbClr val="F0EADC"/>
          </a:solidFill>
          <a:ln w="285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37160" rtlCol="0" anchor="ctr"/>
          <a:lstStyle/>
          <a:p>
            <a:pPr algn="ctr"/>
            <a:r>
              <a:rPr sz="1200" dirty="0">
                <a:solidFill>
                  <a:srgbClr val="52483C"/>
                </a:solidFill>
                <a:latin typeface="Calibri"/>
              </a:rPr>
              <a:t>El </a:t>
            </a:r>
            <a:r>
              <a:rPr lang="es-PE" sz="1200" dirty="0">
                <a:solidFill>
                  <a:srgbClr val="52483C"/>
                </a:solidFill>
                <a:latin typeface="Calibri"/>
              </a:rPr>
              <a:t>lote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completo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(3h 29min)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tardó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casi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lo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mismo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que la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suma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de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duración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de los 44 videos (3h 51min),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el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sistema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absorbe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el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contenido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casi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al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ritmo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en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que se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grabó</a:t>
            </a:r>
            <a:r>
              <a:rPr sz="1200" dirty="0">
                <a:solidFill>
                  <a:srgbClr val="52483C"/>
                </a:solidFill>
                <a:latin typeface="Calibri"/>
              </a:rPr>
              <a:t>.</a:t>
            </a:r>
          </a:p>
        </p:txBody>
      </p:sp>
      <p:pic>
        <p:nvPicPr>
          <p:cNvPr id="14" name="Picture 3" descr="chart_confiabilidad_moodle.png">
            <a:extLst>
              <a:ext uri="{FF2B5EF4-FFF2-40B4-BE49-F238E27FC236}">
                <a16:creationId xmlns:a16="http://schemas.microsoft.com/office/drawing/2014/main" id="{EA080140-15F6-4EED-AA5B-AB385FECE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361" y="3873132"/>
            <a:ext cx="5665762" cy="2683782"/>
          </a:xfrm>
          <a:prstGeom prst="rect">
            <a:avLst/>
          </a:prstGeom>
        </p:spPr>
      </p:pic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54F15BDB-008D-47B4-A839-F0FF275B7CE6}"/>
              </a:ext>
            </a:extLst>
          </p:cNvPr>
          <p:cNvSpPr/>
          <p:nvPr/>
        </p:nvSpPr>
        <p:spPr>
          <a:xfrm>
            <a:off x="7106556" y="3875851"/>
            <a:ext cx="2059158" cy="912642"/>
          </a:xfrm>
          <a:prstGeom prst="roundRect">
            <a:avLst>
              <a:gd name="adj" fmla="val 8000"/>
            </a:avLst>
          </a:prstGeom>
          <a:solidFill>
            <a:srgbClr val="F0EADC"/>
          </a:solidFill>
          <a:ln w="9525">
            <a:solidFill>
              <a:srgbClr val="DE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3000" b="1" dirty="0">
                <a:solidFill>
                  <a:srgbClr val="2B5E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26/44</a:t>
            </a:r>
          </a:p>
          <a:p>
            <a:pPr algn="ctr"/>
            <a:r>
              <a:rPr sz="1100" dirty="0" err="1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transcripciones</a:t>
            </a:r>
            <a:r>
              <a:rPr sz="1100" dirty="0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100" dirty="0" err="1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confiables</a:t>
            </a:r>
            <a:endParaRPr sz="1100" dirty="0">
              <a:solidFill>
                <a:srgbClr val="5248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4E69133C-5B8A-4720-B5F9-7361EFC97080}"/>
              </a:ext>
            </a:extLst>
          </p:cNvPr>
          <p:cNvSpPr/>
          <p:nvPr/>
        </p:nvSpPr>
        <p:spPr>
          <a:xfrm>
            <a:off x="9512159" y="3875851"/>
            <a:ext cx="2059158" cy="912642"/>
          </a:xfrm>
          <a:prstGeom prst="roundRect">
            <a:avLst>
              <a:gd name="adj" fmla="val 8000"/>
            </a:avLst>
          </a:prstGeom>
          <a:solidFill>
            <a:srgbClr val="F0EADC"/>
          </a:solidFill>
          <a:ln w="9525">
            <a:solidFill>
              <a:srgbClr val="DED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3000" b="1" dirty="0">
                <a:solidFill>
                  <a:srgbClr val="B975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18/44</a:t>
            </a:r>
          </a:p>
          <a:p>
            <a:pPr algn="ctr"/>
            <a:r>
              <a:rPr sz="1100" dirty="0" err="1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transcripciones</a:t>
            </a:r>
            <a:r>
              <a:rPr sz="1100" dirty="0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 </a:t>
            </a:r>
            <a:r>
              <a:rPr sz="1100" dirty="0" err="1">
                <a:solidFill>
                  <a:srgbClr val="52483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confiables</a:t>
            </a:r>
            <a:endParaRPr sz="1100" dirty="0">
              <a:solidFill>
                <a:srgbClr val="52483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F7862887-B19D-4C97-864A-CFB9A5E6F40D}"/>
              </a:ext>
            </a:extLst>
          </p:cNvPr>
          <p:cNvSpPr/>
          <p:nvPr/>
        </p:nvSpPr>
        <p:spPr>
          <a:xfrm>
            <a:off x="7957679" y="5111209"/>
            <a:ext cx="3108960" cy="1285435"/>
          </a:xfrm>
          <a:prstGeom prst="rect">
            <a:avLst/>
          </a:prstGeom>
          <a:solidFill>
            <a:srgbClr val="F0EADC"/>
          </a:solidFill>
          <a:ln w="28575">
            <a:solidFill>
              <a:srgbClr val="B97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37160" rtlCol="0" anchor="ctr"/>
          <a:lstStyle/>
          <a:p>
            <a:pPr algn="ctr"/>
            <a:r>
              <a:rPr sz="1200" dirty="0" err="1">
                <a:solidFill>
                  <a:srgbClr val="52483C"/>
                </a:solidFill>
                <a:latin typeface="Calibri"/>
              </a:rPr>
              <a:t>Proporción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similar a la del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lote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anterior (43 videos del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diplomado</a:t>
            </a:r>
            <a:r>
              <a:rPr sz="1200" dirty="0">
                <a:solidFill>
                  <a:srgbClr val="52483C"/>
                </a:solidFill>
                <a:latin typeface="Calibri"/>
              </a:rPr>
              <a:t>): la causa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ya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identificada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(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cruce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de voces /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ruido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ambiental</a:t>
            </a:r>
            <a:r>
              <a:rPr sz="1200" dirty="0">
                <a:solidFill>
                  <a:srgbClr val="52483C"/>
                </a:solidFill>
                <a:latin typeface="Calibri"/>
              </a:rPr>
              <a:t>, no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acento</a:t>
            </a:r>
            <a:r>
              <a:rPr sz="1200" dirty="0">
                <a:solidFill>
                  <a:srgbClr val="52483C"/>
                </a:solidFill>
                <a:latin typeface="Calibri"/>
              </a:rPr>
              <a:t>) se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mantiene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en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un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cohorte</a:t>
            </a:r>
            <a:r>
              <a:rPr sz="1200" dirty="0">
                <a:solidFill>
                  <a:srgbClr val="52483C"/>
                </a:solidFill>
                <a:latin typeface="Calibri"/>
              </a:rPr>
              <a:t> real </a:t>
            </a:r>
            <a:r>
              <a:rPr sz="1200" dirty="0" err="1">
                <a:solidFill>
                  <a:srgbClr val="52483C"/>
                </a:solidFill>
                <a:latin typeface="Calibri"/>
              </a:rPr>
              <a:t>distinto</a:t>
            </a:r>
            <a:r>
              <a:rPr sz="1200" dirty="0">
                <a:solidFill>
                  <a:srgbClr val="52483C"/>
                </a:solidFill>
                <a:latin typeface="Calibri"/>
              </a:rPr>
              <a:t>.</a:t>
            </a: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F546D4BD-ABDF-4B1E-96E8-B7525053081C}"/>
              </a:ext>
            </a:extLst>
          </p:cNvPr>
          <p:cNvSpPr txBox="1"/>
          <p:nvPr/>
        </p:nvSpPr>
        <p:spPr>
          <a:xfrm>
            <a:off x="872837" y="3456628"/>
            <a:ext cx="8989842" cy="48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PE" sz="2400" b="1" dirty="0">
                <a:solidFill>
                  <a:srgbClr val="241F18"/>
                </a:solidFill>
                <a:latin typeface="Georgia"/>
              </a:rPr>
              <a:t>Calidad de la evaluación</a:t>
            </a:r>
          </a:p>
        </p:txBody>
      </p:sp>
    </p:spTree>
    <p:extLst>
      <p:ext uri="{BB962C8B-B14F-4D97-AF65-F5344CB8AC3E}">
        <p14:creationId xmlns:p14="http://schemas.microsoft.com/office/powerpoint/2010/main" val="960223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4793AD3-0654-4687-8425-90B677043FEE}"/>
              </a:ext>
            </a:extLst>
          </p:cNvPr>
          <p:cNvSpPr txBox="1"/>
          <p:nvPr/>
        </p:nvSpPr>
        <p:spPr>
          <a:xfrm>
            <a:off x="815926" y="5029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dirty="0" err="1">
                <a:solidFill>
                  <a:srgbClr val="241F18"/>
                </a:solidFill>
                <a:latin typeface="Georgia"/>
              </a:rPr>
              <a:t>Hallazgo</a:t>
            </a:r>
            <a:r>
              <a:rPr sz="2400" b="1" dirty="0">
                <a:solidFill>
                  <a:srgbClr val="241F18"/>
                </a:solidFill>
                <a:latin typeface="Georgia"/>
              </a:rPr>
              <a:t>: 2 </a:t>
            </a:r>
            <a:r>
              <a:rPr sz="2400" b="1" dirty="0" err="1">
                <a:solidFill>
                  <a:srgbClr val="241F18"/>
                </a:solidFill>
                <a:latin typeface="Georgia"/>
              </a:rPr>
              <a:t>entregas</a:t>
            </a:r>
            <a:r>
              <a:rPr sz="2400" b="1" dirty="0">
                <a:solidFill>
                  <a:srgbClr val="241F18"/>
                </a:solidFill>
                <a:latin typeface="Georgia"/>
              </a:rPr>
              <a:t> no </a:t>
            </a:r>
            <a:r>
              <a:rPr sz="2400" b="1" dirty="0" err="1">
                <a:solidFill>
                  <a:srgbClr val="241F18"/>
                </a:solidFill>
                <a:latin typeface="Georgia"/>
              </a:rPr>
              <a:t>parecen</a:t>
            </a:r>
            <a:r>
              <a:rPr sz="2400" b="1" dirty="0">
                <a:solidFill>
                  <a:srgbClr val="241F18"/>
                </a:solidFill>
                <a:latin typeface="Georgia"/>
              </a:rPr>
              <a:t> ser la </a:t>
            </a:r>
            <a:r>
              <a:rPr sz="2400" b="1" dirty="0" err="1">
                <a:solidFill>
                  <a:srgbClr val="241F18"/>
                </a:solidFill>
                <a:latin typeface="Georgia"/>
              </a:rPr>
              <a:t>sesión</a:t>
            </a:r>
            <a:r>
              <a:rPr sz="2400" b="1" dirty="0">
                <a:solidFill>
                  <a:srgbClr val="241F18"/>
                </a:solidFill>
                <a:latin typeface="Georgia"/>
              </a:rPr>
              <a:t> </a:t>
            </a:r>
            <a:r>
              <a:rPr sz="2400" b="1" dirty="0" err="1">
                <a:solidFill>
                  <a:srgbClr val="241F18"/>
                </a:solidFill>
                <a:latin typeface="Georgia"/>
              </a:rPr>
              <a:t>completa</a:t>
            </a:r>
            <a:endParaRPr sz="2400" b="1" dirty="0">
              <a:solidFill>
                <a:srgbClr val="241F18"/>
              </a:solidFill>
              <a:latin typeface="Georgia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1070023-671A-44A6-8C3F-36ABADC17ABF}"/>
              </a:ext>
            </a:extLst>
          </p:cNvPr>
          <p:cNvSpPr txBox="1"/>
          <p:nvPr/>
        </p:nvSpPr>
        <p:spPr>
          <a:xfrm>
            <a:off x="815926" y="1176411"/>
            <a:ext cx="10522634" cy="308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dirty="0">
                <a:solidFill>
                  <a:srgbClr val="52483C"/>
                </a:solidFill>
                <a:latin typeface="Calibri"/>
              </a:rPr>
              <a:t>No es una </a:t>
            </a:r>
            <a:r>
              <a:rPr sz="1300" b="0" dirty="0" err="1">
                <a:solidFill>
                  <a:srgbClr val="52483C"/>
                </a:solidFill>
                <a:latin typeface="Calibri"/>
              </a:rPr>
              <a:t>falla</a:t>
            </a:r>
            <a:r>
              <a:rPr sz="1300" b="0" dirty="0">
                <a:solidFill>
                  <a:srgbClr val="52483C"/>
                </a:solidFill>
                <a:latin typeface="Calibri"/>
              </a:rPr>
              <a:t> del </a:t>
            </a:r>
            <a:r>
              <a:rPr sz="1300" b="0" dirty="0" err="1">
                <a:solidFill>
                  <a:srgbClr val="52483C"/>
                </a:solidFill>
                <a:latin typeface="Calibri"/>
              </a:rPr>
              <a:t>sistema</a:t>
            </a:r>
            <a:r>
              <a:rPr lang="es-MX" sz="1300" b="0" dirty="0">
                <a:solidFill>
                  <a:srgbClr val="52483C"/>
                </a:solidFill>
                <a:latin typeface="Calibri"/>
              </a:rPr>
              <a:t>, </a:t>
            </a:r>
            <a:r>
              <a:rPr sz="1300" b="0" dirty="0">
                <a:solidFill>
                  <a:srgbClr val="52483C"/>
                </a:solidFill>
                <a:latin typeface="Calibri"/>
              </a:rPr>
              <a:t>ambos </a:t>
            </a:r>
            <a:r>
              <a:rPr sz="1300" b="0" dirty="0" err="1">
                <a:solidFill>
                  <a:srgbClr val="52483C"/>
                </a:solidFill>
                <a:latin typeface="Calibri"/>
              </a:rPr>
              <a:t>archivos</a:t>
            </a:r>
            <a:r>
              <a:rPr sz="1300" b="0" dirty="0">
                <a:solidFill>
                  <a:srgbClr val="52483C"/>
                </a:solidFill>
                <a:latin typeface="Calibri"/>
              </a:rPr>
              <a:t> se </a:t>
            </a:r>
            <a:r>
              <a:rPr sz="1300" b="0" dirty="0" err="1">
                <a:solidFill>
                  <a:srgbClr val="52483C"/>
                </a:solidFill>
                <a:latin typeface="Calibri"/>
              </a:rPr>
              <a:t>procesaron</a:t>
            </a:r>
            <a:r>
              <a:rPr sz="1300" b="0" dirty="0">
                <a:solidFill>
                  <a:srgbClr val="52483C"/>
                </a:solidFill>
                <a:latin typeface="Calibri"/>
              </a:rPr>
              <a:t> y </a:t>
            </a:r>
            <a:r>
              <a:rPr sz="1300" b="0" dirty="0" err="1">
                <a:solidFill>
                  <a:srgbClr val="52483C"/>
                </a:solidFill>
                <a:latin typeface="Calibri"/>
              </a:rPr>
              <a:t>evaluaron</a:t>
            </a:r>
            <a:r>
              <a:rPr sz="1300" b="0" dirty="0">
                <a:solidFill>
                  <a:srgbClr val="52483C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52483C"/>
                </a:solidFill>
                <a:latin typeface="Calibri"/>
              </a:rPr>
              <a:t>normalmente</a:t>
            </a:r>
            <a:r>
              <a:rPr sz="1300" b="0" dirty="0">
                <a:solidFill>
                  <a:srgbClr val="52483C"/>
                </a:solidFill>
                <a:latin typeface="Calibri"/>
              </a:rPr>
              <a:t> (status done). Es un </a:t>
            </a:r>
            <a:r>
              <a:rPr sz="1300" b="0" dirty="0" err="1">
                <a:solidFill>
                  <a:srgbClr val="52483C"/>
                </a:solidFill>
                <a:latin typeface="Calibri"/>
              </a:rPr>
              <a:t>dato</a:t>
            </a:r>
            <a:r>
              <a:rPr sz="1300" b="0" dirty="0">
                <a:solidFill>
                  <a:srgbClr val="52483C"/>
                </a:solidFill>
                <a:latin typeface="Calibri"/>
              </a:rPr>
              <a:t> a </a:t>
            </a:r>
            <a:r>
              <a:rPr sz="1300" b="0" dirty="0" err="1">
                <a:solidFill>
                  <a:srgbClr val="52483C"/>
                </a:solidFill>
                <a:latin typeface="Calibri"/>
              </a:rPr>
              <a:t>verificar</a:t>
            </a:r>
            <a:r>
              <a:rPr sz="1300" b="0" dirty="0">
                <a:solidFill>
                  <a:srgbClr val="52483C"/>
                </a:solidFill>
                <a:latin typeface="Calibri"/>
              </a:rPr>
              <a:t> antes de usar </a:t>
            </a:r>
            <a:r>
              <a:rPr lang="es-MX" sz="1300" b="0" dirty="0">
                <a:solidFill>
                  <a:srgbClr val="52483C"/>
                </a:solidFill>
                <a:latin typeface="Calibri"/>
              </a:rPr>
              <a:t>los</a:t>
            </a:r>
            <a:r>
              <a:rPr sz="1300" b="0" dirty="0">
                <a:solidFill>
                  <a:srgbClr val="52483C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52483C"/>
                </a:solidFill>
                <a:latin typeface="Calibri"/>
              </a:rPr>
              <a:t>resultado</a:t>
            </a:r>
            <a:r>
              <a:rPr lang="es-MX" sz="1300" b="0" dirty="0">
                <a:solidFill>
                  <a:srgbClr val="52483C"/>
                </a:solidFill>
                <a:latin typeface="Calibri"/>
              </a:rPr>
              <a:t>s</a:t>
            </a:r>
            <a:r>
              <a:rPr sz="1300" b="0" dirty="0">
                <a:solidFill>
                  <a:srgbClr val="52483C"/>
                </a:solidFill>
                <a:latin typeface="Calibri"/>
              </a:rPr>
              <a:t>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72FFDC-6F41-4EB6-B761-BD1D1C6D3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162008"/>
              </p:ext>
            </p:extLst>
          </p:nvPr>
        </p:nvGraphicFramePr>
        <p:xfrm>
          <a:off x="2230608" y="2090811"/>
          <a:ext cx="805199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3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21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 err="1"/>
                        <a:t>Archivo</a:t>
                      </a:r>
                      <a:endParaRPr dirty="0"/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Duración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¿</a:t>
                      </a:r>
                      <a:r>
                        <a:rPr dirty="0" err="1"/>
                        <a:t>Qué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revisar</a:t>
                      </a:r>
                      <a:r>
                        <a:rPr dirty="0"/>
                        <a:t>?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dirty="0"/>
                        <a:t>EVIDENCIA.mp4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dirty="0"/>
                        <a:t>6.5 </a:t>
                      </a:r>
                      <a:r>
                        <a:rPr dirty="0" err="1"/>
                        <a:t>segundos</a:t>
                      </a:r>
                      <a:endParaRPr dirty="0"/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dirty="0" err="1"/>
                        <a:t>Posible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archivo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equivocado</a:t>
                      </a:r>
                      <a:r>
                        <a:rPr dirty="0"/>
                        <a:t> o clip de </a:t>
                      </a:r>
                      <a:r>
                        <a:rPr dirty="0" err="1"/>
                        <a:t>evidencia</a:t>
                      </a:r>
                      <a:r>
                        <a:rPr dirty="0"/>
                        <a:t>, no la </a:t>
                      </a:r>
                      <a:r>
                        <a:rPr dirty="0" err="1"/>
                        <a:t>clase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completa</a:t>
                      </a:r>
                      <a:endParaRPr dirty="0"/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t>VIDEO.mp4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t>18.3 segundos</a:t>
                      </a:r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1F18"/>
                          </a:solidFill>
                          <a:latin typeface="Calibri"/>
                        </a:defRPr>
                      </a:pPr>
                      <a:r>
                        <a:rPr dirty="0" err="1"/>
                        <a:t>Mismo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caso</a:t>
                      </a:r>
                      <a:r>
                        <a:rPr dirty="0"/>
                        <a:t> — </a:t>
                      </a:r>
                      <a:r>
                        <a:rPr dirty="0" err="1"/>
                        <a:t>duración</a:t>
                      </a:r>
                      <a:r>
                        <a:rPr dirty="0"/>
                        <a:t> incompatible con una </a:t>
                      </a:r>
                      <a:r>
                        <a:rPr dirty="0" err="1"/>
                        <a:t>sesión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clase</a:t>
                      </a:r>
                      <a:endParaRPr dirty="0"/>
                    </a:p>
                  </a:txBody>
                  <a:tcPr anchor="ctr">
                    <a:solidFill>
                      <a:srgbClr val="F0E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254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4793AD3-0654-4687-8425-90B677043FEE}"/>
              </a:ext>
            </a:extLst>
          </p:cNvPr>
          <p:cNvSpPr txBox="1"/>
          <p:nvPr/>
        </p:nvSpPr>
        <p:spPr>
          <a:xfrm>
            <a:off x="1213339" y="494127"/>
            <a:ext cx="10881360" cy="48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MX" sz="2400" b="1" dirty="0">
                <a:solidFill>
                  <a:srgbClr val="241F18"/>
                </a:solidFill>
                <a:latin typeface="Georgia"/>
              </a:rPr>
              <a:t>Rúbrica de evaluación</a:t>
            </a:r>
            <a:endParaRPr sz="2400" b="1" dirty="0">
              <a:solidFill>
                <a:srgbClr val="241F18"/>
              </a:solidFill>
              <a:latin typeface="Georgia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7D4F7BB-BBCE-4F6A-9438-14E02EF5B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112379"/>
              </p:ext>
            </p:extLst>
          </p:nvPr>
        </p:nvGraphicFramePr>
        <p:xfrm>
          <a:off x="1499015" y="1316328"/>
          <a:ext cx="9398833" cy="4200052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2774299">
                  <a:extLst>
                    <a:ext uri="{9D8B030D-6E8A-4147-A177-3AD203B41FA5}">
                      <a16:colId xmlns:a16="http://schemas.microsoft.com/office/drawing/2014/main" val="1415069211"/>
                    </a:ext>
                  </a:extLst>
                </a:gridCol>
                <a:gridCol w="6624534">
                  <a:extLst>
                    <a:ext uri="{9D8B030D-6E8A-4147-A177-3AD203B41FA5}">
                      <a16:colId xmlns:a16="http://schemas.microsoft.com/office/drawing/2014/main" val="639336053"/>
                    </a:ext>
                  </a:extLst>
                </a:gridCol>
              </a:tblGrid>
              <a:tr h="514124">
                <a:tc>
                  <a:txBody>
                    <a:bodyPr/>
                    <a:lstStyle/>
                    <a:p>
                      <a:r>
                        <a:rPr lang="es-PE" sz="14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Criterio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4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¿Qué evalúa?</a:t>
                      </a: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534646"/>
                  </a:ext>
                </a:extLst>
              </a:tr>
              <a:tr h="726977">
                <a:tc>
                  <a:txBody>
                    <a:bodyPr/>
                    <a:lstStyle/>
                    <a:p>
                      <a:r>
                        <a:rPr lang="es-MX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 Propósito y contexto de aprendizaje</a:t>
                      </a:r>
                      <a:endParaRPr lang="es-MX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 en el video se comprende qué aprendizaje o propósito se trabaja y si la actividad observada está relacionada con ese propósito.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6886358"/>
                  </a:ext>
                </a:extLst>
              </a:tr>
              <a:tr h="826110">
                <a:tc>
                  <a:txBody>
                    <a:bodyPr/>
                    <a:lstStyle/>
                    <a:p>
                      <a:r>
                        <a:rPr lang="es-PE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 Estrategias para promover el pensamiento crítico</a:t>
                      </a:r>
                      <a:endParaRPr lang="es-PE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 el docente propone preguntas o actividades que hacen que los estudiantes analicen, interpreten, comparen, argumenten, evalúen ideas o formulen conclusiones.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2793153"/>
                  </a:ext>
                </a:extLst>
              </a:tr>
              <a:tr h="726977">
                <a:tc>
                  <a:txBody>
                    <a:bodyPr/>
                    <a:lstStyle/>
                    <a:p>
                      <a:r>
                        <a:rPr lang="es-MX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 Mediación docente e interacción</a:t>
                      </a:r>
                      <a:endParaRPr lang="es-MX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Cómo acompaña el docente el aprendizaje: si escucha, hace preguntas de seguimiento, orienta y ayuda a profundizar las ideas, sin dar inmediatamente las respuestas.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861960"/>
                  </a:ext>
                </a:extLst>
              </a:tr>
              <a:tr h="678887">
                <a:tc>
                  <a:txBody>
                    <a:bodyPr/>
                    <a:lstStyle/>
                    <a:p>
                      <a:r>
                        <a:rPr lang="es-MX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 Participación y evidencias de pensamiento crítico</a:t>
                      </a:r>
                      <a:endParaRPr lang="es-MX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 los estudiantes participan y si sus intervenciones muestran procesos de pensamiento, como explicar, justificar, contrastar ideas o llegar a conclusiones.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561084"/>
                  </a:ext>
                </a:extLst>
              </a:tr>
              <a:tr h="726977">
                <a:tc>
                  <a:txBody>
                    <a:bodyPr/>
                    <a:lstStyle/>
                    <a:p>
                      <a:r>
                        <a:rPr lang="es-MX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 Claridad y condiciones del video</a:t>
                      </a:r>
                      <a:endParaRPr lang="es-MX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 el audio, la imagen y la continuidad permiten observar y comprender la actividad, y si el video cumple la duración solicitada de 5 a 7 minutos.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6220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1081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220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4793AD3-0654-4687-8425-90B677043FEE}"/>
              </a:ext>
            </a:extLst>
          </p:cNvPr>
          <p:cNvSpPr txBox="1"/>
          <p:nvPr/>
        </p:nvSpPr>
        <p:spPr>
          <a:xfrm>
            <a:off x="1063868" y="495792"/>
            <a:ext cx="10881360" cy="48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MX" sz="2400" b="1" dirty="0">
                <a:solidFill>
                  <a:srgbClr val="241F18"/>
                </a:solidFill>
                <a:latin typeface="Georgia"/>
              </a:rPr>
              <a:t>Rúbrica de evaluación</a:t>
            </a:r>
            <a:endParaRPr sz="2400" b="1" dirty="0">
              <a:solidFill>
                <a:srgbClr val="241F18"/>
              </a:solidFill>
              <a:latin typeface="Georgia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D614716-A964-4EB5-A15A-433784C280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06378"/>
              </p:ext>
            </p:extLst>
          </p:nvPr>
        </p:nvGraphicFramePr>
        <p:xfrm>
          <a:off x="1063868" y="1139252"/>
          <a:ext cx="10643450" cy="4981896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2128690">
                  <a:extLst>
                    <a:ext uri="{9D8B030D-6E8A-4147-A177-3AD203B41FA5}">
                      <a16:colId xmlns:a16="http://schemas.microsoft.com/office/drawing/2014/main" val="2893666123"/>
                    </a:ext>
                  </a:extLst>
                </a:gridCol>
                <a:gridCol w="2128690">
                  <a:extLst>
                    <a:ext uri="{9D8B030D-6E8A-4147-A177-3AD203B41FA5}">
                      <a16:colId xmlns:a16="http://schemas.microsoft.com/office/drawing/2014/main" val="3967182238"/>
                    </a:ext>
                  </a:extLst>
                </a:gridCol>
                <a:gridCol w="2128690">
                  <a:extLst>
                    <a:ext uri="{9D8B030D-6E8A-4147-A177-3AD203B41FA5}">
                      <a16:colId xmlns:a16="http://schemas.microsoft.com/office/drawing/2014/main" val="2632221930"/>
                    </a:ext>
                  </a:extLst>
                </a:gridCol>
                <a:gridCol w="2128690">
                  <a:extLst>
                    <a:ext uri="{9D8B030D-6E8A-4147-A177-3AD203B41FA5}">
                      <a16:colId xmlns:a16="http://schemas.microsoft.com/office/drawing/2014/main" val="3592642156"/>
                    </a:ext>
                  </a:extLst>
                </a:gridCol>
                <a:gridCol w="2128690">
                  <a:extLst>
                    <a:ext uri="{9D8B030D-6E8A-4147-A177-3AD203B41FA5}">
                      <a16:colId xmlns:a16="http://schemas.microsoft.com/office/drawing/2014/main" val="1853883739"/>
                    </a:ext>
                  </a:extLst>
                </a:gridCol>
              </a:tblGrid>
              <a:tr h="1228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PE" sz="14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Criterio</a:t>
                      </a:r>
                    </a:p>
                  </a:txBody>
                  <a:tcPr marL="18653" marR="18653" marT="9327" marB="9327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PE" sz="1400" b="1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Inicio</a:t>
                      </a:r>
                    </a:p>
                  </a:txBody>
                  <a:tcPr marL="18653" marR="18653" marT="9327" marB="9327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PE" sz="1400" b="1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 proceso</a:t>
                      </a:r>
                    </a:p>
                  </a:txBody>
                  <a:tcPr marL="18653" marR="18653" marT="9327" marB="9327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PE" sz="1400" b="1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Logrado</a:t>
                      </a:r>
                    </a:p>
                  </a:txBody>
                  <a:tcPr marL="18653" marR="18653" marT="9327" marB="9327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PE" sz="14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Destacado</a:t>
                      </a:r>
                    </a:p>
                  </a:txBody>
                  <a:tcPr marL="18653" marR="18653" marT="9327" marB="9327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15200"/>
                  </a:ext>
                </a:extLst>
              </a:tr>
              <a:tr h="89232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 Propósito y contexto de aprendizaje (3 puntos)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 puntos. No se distingue el propósito de la actividad ni su relación con el aprendizaje.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punto. El propósito se reconoce parcialmente, pero la actividad o el fragmento observado tiene una relación poco clara con este.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 puntos. El propósito se comprende y la actividad observada guarda relación con él.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 puntos. El propósito es claro y la actividad se vincula de manera coherente con el aprendizaje y la situación planteada a los estudiantes.</a:t>
                      </a:r>
                    </a:p>
                  </a:txBody>
                  <a:tcPr marL="18653" marR="18653" marT="9327" marB="9327" anchor="ctr"/>
                </a:tc>
                <a:extLst>
                  <a:ext uri="{0D108BD9-81ED-4DB2-BD59-A6C34878D82A}">
                    <a16:rowId xmlns:a16="http://schemas.microsoft.com/office/drawing/2014/main" val="1347395336"/>
                  </a:ext>
                </a:extLst>
              </a:tr>
              <a:tr h="106503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PE" sz="1400" b="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 Estrategias para promover el pensamiento crítico (6 puntos)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0–1 punto. Predomina la exposición o repetición de información; no se observan estrategias que inviten a pensar, analizar o justificar ideas.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PE" sz="14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2–3 puntos. Se plantea alguna pregunta o actividad de análisis, pero se desarrolla de manera limitada o se orienta principalmente a respuestas breves.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4–5 puntos. Se utilizan estrategias que invitan a analizar información, explicar ideas, establecer relaciones o justificar respuestas.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 puntos. Las estrategias promueven de forma sostenida el análisis, la argumentación, la evaluación de ideas o alternativas y la elaboración de conclusiones fundamentadas.</a:t>
                      </a:r>
                    </a:p>
                  </a:txBody>
                  <a:tcPr marL="18653" marR="18653" marT="9327" marB="9327" anchor="ctr"/>
                </a:tc>
                <a:extLst>
                  <a:ext uri="{0D108BD9-81ED-4DB2-BD59-A6C34878D82A}">
                    <a16:rowId xmlns:a16="http://schemas.microsoft.com/office/drawing/2014/main" val="4205231109"/>
                  </a:ext>
                </a:extLst>
              </a:tr>
              <a:tr h="123773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 Mediación docente e interacción (4 puntos)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 puntos. La intervención docente no facilita la comprensión ni el intercambio de ideas.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1–2 puntos. El docente orienta la actividad, pero ofrece pocas oportunidades para que los estudiantes expliquen o desarrollen sus ideas.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 puntos. El docente plantea preguntas, escucha las respuestas y orienta a los estudiantes para profundizar o aclarar sus ideas.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 puntos. El docente media con preguntas y repreguntas pertinentes, conecta las intervenciones de los estudiantes y los ayuda a sustentar, revisar o ampliar sus ideas sin darles inmediatamente la respuesta.</a:t>
                      </a:r>
                    </a:p>
                  </a:txBody>
                  <a:tcPr marL="18653" marR="18653" marT="9327" marB="9327" anchor="ctr"/>
                </a:tc>
                <a:extLst>
                  <a:ext uri="{0D108BD9-81ED-4DB2-BD59-A6C34878D82A}">
                    <a16:rowId xmlns:a16="http://schemas.microsoft.com/office/drawing/2014/main" val="1076388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8978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4793AD3-0654-4687-8425-90B677043FEE}"/>
              </a:ext>
            </a:extLst>
          </p:cNvPr>
          <p:cNvSpPr txBox="1"/>
          <p:nvPr/>
        </p:nvSpPr>
        <p:spPr>
          <a:xfrm>
            <a:off x="1063868" y="619097"/>
            <a:ext cx="10881360" cy="48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MX" sz="2400" b="1" dirty="0">
                <a:solidFill>
                  <a:srgbClr val="241F18"/>
                </a:solidFill>
                <a:latin typeface="Georgia"/>
              </a:rPr>
              <a:t>Rúbrica de evaluación</a:t>
            </a:r>
            <a:endParaRPr sz="2400" b="1" dirty="0">
              <a:solidFill>
                <a:srgbClr val="241F18"/>
              </a:solidFill>
              <a:latin typeface="Georgia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D614716-A964-4EB5-A15A-433784C280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944770"/>
              </p:ext>
            </p:extLst>
          </p:nvPr>
        </p:nvGraphicFramePr>
        <p:xfrm>
          <a:off x="1063868" y="1319134"/>
          <a:ext cx="10643450" cy="3256362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2128690">
                  <a:extLst>
                    <a:ext uri="{9D8B030D-6E8A-4147-A177-3AD203B41FA5}">
                      <a16:colId xmlns:a16="http://schemas.microsoft.com/office/drawing/2014/main" val="2893666123"/>
                    </a:ext>
                  </a:extLst>
                </a:gridCol>
                <a:gridCol w="2128690">
                  <a:extLst>
                    <a:ext uri="{9D8B030D-6E8A-4147-A177-3AD203B41FA5}">
                      <a16:colId xmlns:a16="http://schemas.microsoft.com/office/drawing/2014/main" val="3967182238"/>
                    </a:ext>
                  </a:extLst>
                </a:gridCol>
                <a:gridCol w="2128690">
                  <a:extLst>
                    <a:ext uri="{9D8B030D-6E8A-4147-A177-3AD203B41FA5}">
                      <a16:colId xmlns:a16="http://schemas.microsoft.com/office/drawing/2014/main" val="2632221930"/>
                    </a:ext>
                  </a:extLst>
                </a:gridCol>
                <a:gridCol w="2128690">
                  <a:extLst>
                    <a:ext uri="{9D8B030D-6E8A-4147-A177-3AD203B41FA5}">
                      <a16:colId xmlns:a16="http://schemas.microsoft.com/office/drawing/2014/main" val="3592642156"/>
                    </a:ext>
                  </a:extLst>
                </a:gridCol>
                <a:gridCol w="2128690">
                  <a:extLst>
                    <a:ext uri="{9D8B030D-6E8A-4147-A177-3AD203B41FA5}">
                      <a16:colId xmlns:a16="http://schemas.microsoft.com/office/drawing/2014/main" val="1853883739"/>
                    </a:ext>
                  </a:extLst>
                </a:gridCol>
              </a:tblGrid>
              <a:tr h="1228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PE" sz="14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Criterio</a:t>
                      </a:r>
                    </a:p>
                  </a:txBody>
                  <a:tcPr marL="18653" marR="18653" marT="9327" marB="9327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PE" sz="1400" b="1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Inicio</a:t>
                      </a:r>
                    </a:p>
                  </a:txBody>
                  <a:tcPr marL="18653" marR="18653" marT="9327" marB="9327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PE" sz="1400" b="1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 proceso</a:t>
                      </a:r>
                    </a:p>
                  </a:txBody>
                  <a:tcPr marL="18653" marR="18653" marT="9327" marB="9327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PE" sz="1400" b="1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Logrado</a:t>
                      </a:r>
                    </a:p>
                  </a:txBody>
                  <a:tcPr marL="18653" marR="18653" marT="9327" marB="9327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PE" sz="14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Destacado</a:t>
                      </a:r>
                    </a:p>
                  </a:txBody>
                  <a:tcPr marL="18653" marR="18653" marT="9327" marB="9327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15200"/>
                  </a:ext>
                </a:extLst>
              </a:tr>
              <a:tr h="132409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 Participación y evidencias de pensamiento crítico (5 puntos)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 puntos. En el fragmento no se observan intervenciones estudiantiles relacionadas con la actividad.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1–2 puntos. Se observa participación, pero las respuestas son principalmente reproductivas o no permiten apreciar el razonamiento de los estudiantes.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3–4 puntos. Se observan estudiantes que explican, comparan, interpretan, formulan preguntas o sustentan algunas respuestas.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 puntos. Se observan evidencias claras de que los estudiantes analizan, argumentan, contrastan ideas o llegan a conclusiones sustentadas; el docente recoge esas evidencias durante la actividad.</a:t>
                      </a:r>
                    </a:p>
                  </a:txBody>
                  <a:tcPr marL="18653" marR="18653" marT="9327" marB="9327" anchor="ctr"/>
                </a:tc>
                <a:extLst>
                  <a:ext uri="{0D108BD9-81ED-4DB2-BD59-A6C34878D82A}">
                    <a16:rowId xmlns:a16="http://schemas.microsoft.com/office/drawing/2014/main" val="1485965866"/>
                  </a:ext>
                </a:extLst>
              </a:tr>
              <a:tr h="89232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 Claridad y condiciones del video (2 puntos)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 puntos. El fragmento no permite observar ni escuchar adecuadamente la actividad.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punto. Se comprende parte de la actividad, aunque hay dificultades de audio, encuadre o continuidad que limitan la valoración.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 puntos. El audio y las imágenes permiten seguir la interacción y reconocer las estrategias aplicadas durante el tiempo solicitado.</a:t>
                      </a:r>
                    </a:p>
                  </a:txBody>
                  <a:tcPr marL="18653" marR="18653" marT="9327" marB="9327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MX" sz="14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 puntos. El registro es claro y continuo, permite seguir la actividad y cumple con la duración solicitada de 5 a 7 minutos.</a:t>
                      </a:r>
                    </a:p>
                  </a:txBody>
                  <a:tcPr marL="18653" marR="18653" marT="9327" marB="9327" anchor="ctr"/>
                </a:tc>
                <a:extLst>
                  <a:ext uri="{0D108BD9-81ED-4DB2-BD59-A6C34878D82A}">
                    <a16:rowId xmlns:a16="http://schemas.microsoft.com/office/drawing/2014/main" val="1302987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568186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849</TotalTime>
  <Words>1711</Words>
  <Application>Microsoft Office PowerPoint</Application>
  <PresentationFormat>Panorámica</PresentationFormat>
  <Paragraphs>152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Calibri</vt:lpstr>
      <vt:lpstr>Consolas</vt:lpstr>
      <vt:lpstr>Franklin Gothic Book</vt:lpstr>
      <vt:lpstr>Georgia</vt:lpstr>
      <vt:lpstr>Recorte</vt:lpstr>
      <vt:lpstr>Capacidad de procesamiento del servicio de análisis de video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Capacidad de procesamiento del servicio de análisis de video</dc:title>
  <dc:creator>DIFODSTI001</dc:creator>
  <cp:lastModifiedBy>DIFODSTI001</cp:lastModifiedBy>
  <cp:revision>20</cp:revision>
  <dcterms:created xsi:type="dcterms:W3CDTF">2026-10-12T14:05:15Z</dcterms:created>
  <dcterms:modified xsi:type="dcterms:W3CDTF">2026-10-14T22:56:10Z</dcterms:modified>
</cp:coreProperties>
</file>